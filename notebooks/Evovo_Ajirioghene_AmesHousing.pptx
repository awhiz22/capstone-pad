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56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Sale Price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994-4B2F-90C9-B91078E2C91E}"/>
              </c:ext>
            </c:extLst>
          </c:dPt>
          <c:dPt>
            <c:idx val="1"/>
            <c:invertIfNegative val="0"/>
            <c:bubble3D val="0"/>
            <c:spPr>
              <a:solidFill>
                <a:srgbClr val="CADCF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994-4B2F-90C9-B91078E2C91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With Central Air</c:v>
                </c:pt>
                <c:pt idx="1">
                  <c:v>Without Central Air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186452</c:v>
                </c:pt>
                <c:pt idx="1">
                  <c:v>101890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94-4B2F-90C9-B91078E2C91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Sale Price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Northridge</c:v>
                </c:pt>
                <c:pt idx="1">
                  <c:v>Stone Brook</c:v>
                </c:pt>
                <c:pt idx="2">
                  <c:v>Nridge Hts</c:v>
                </c:pt>
                <c:pt idx="3">
                  <c:v>Veenker</c:v>
                </c:pt>
                <c:pt idx="4">
                  <c:v>Timberland</c:v>
                </c:pt>
                <c:pt idx="5">
                  <c:v>North Ames</c:v>
                </c:pt>
                <c:pt idx="6">
                  <c:v>Edwards</c:v>
                </c:pt>
                <c:pt idx="7">
                  <c:v>Meadow Vill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330319</c:v>
                </c:pt>
                <c:pt idx="1">
                  <c:v>324229</c:v>
                </c:pt>
                <c:pt idx="2">
                  <c:v>322018</c:v>
                </c:pt>
                <c:pt idx="3">
                  <c:v>248314</c:v>
                </c:pt>
                <c:pt idx="4">
                  <c:v>246599</c:v>
                </c:pt>
                <c:pt idx="5">
                  <c:v>145097</c:v>
                </c:pt>
                <c:pt idx="6">
                  <c:v>130843</c:v>
                </c:pt>
                <c:pt idx="7">
                  <c:v>95756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5D-4D32-B1D8-31199E7FAD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8895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13335" y="601724"/>
            <a:ext cx="6477805" cy="1906073"/>
          </a:xfrm>
        </p:spPr>
        <p:txBody>
          <a:bodyPr bIns="0" anchor="b">
            <a:normAutofit/>
          </a:bodyPr>
          <a:lstStyle>
            <a:lvl1pPr algn="l">
              <a:defRPr sz="49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3335" y="2648403"/>
            <a:ext cx="6477804" cy="733216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35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12376" y="246981"/>
            <a:ext cx="3730436" cy="2319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8249" y="599230"/>
            <a:ext cx="608264" cy="377684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813335" y="2646407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078839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1873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0679" y="1317097"/>
            <a:ext cx="6482366" cy="1415963"/>
          </a:xfrm>
        </p:spPr>
        <p:txBody>
          <a:bodyPr anchor="b">
            <a:normAutofit/>
          </a:bodyPr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0679" y="2854647"/>
            <a:ext cx="6472835" cy="759697"/>
          </a:xfrm>
        </p:spPr>
        <p:txBody>
          <a:bodyPr tIns="91440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90679" y="2853739"/>
            <a:ext cx="64728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019396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13" y="603667"/>
            <a:ext cx="7204226" cy="7944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498" y="1508159"/>
            <a:ext cx="3483864" cy="25864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0328" y="1513007"/>
            <a:ext cx="3483864" cy="25811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32465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5394" y="603123"/>
            <a:ext cx="7205746" cy="79223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393" y="1514662"/>
            <a:ext cx="3483864" cy="60145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5393" y="2118202"/>
            <a:ext cx="3483864" cy="19833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9272" y="1517253"/>
            <a:ext cx="3483864" cy="60167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9272" y="2116119"/>
            <a:ext cx="3483864" cy="19780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207135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436139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0458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3504" y="599230"/>
            <a:ext cx="2454824" cy="1685338"/>
          </a:xfrm>
        </p:spPr>
        <p:txBody>
          <a:bodyPr anchor="b">
            <a:normAutofit/>
          </a:bodyPr>
          <a:lstStyle>
            <a:lvl1pPr algn="l"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2785" y="599230"/>
            <a:ext cx="4509353" cy="349412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3504" y="2404119"/>
            <a:ext cx="2456260" cy="1686136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086210" y="2404118"/>
            <a:ext cx="245211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188226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5608041" y="361628"/>
            <a:ext cx="3055900" cy="3861826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405" y="847135"/>
            <a:ext cx="4149246" cy="1372938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3292" y="841907"/>
            <a:ext cx="2093378" cy="2899745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47" y="2359494"/>
            <a:ext cx="4143303" cy="1502807"/>
          </a:xfrm>
        </p:spPr>
        <p:txBody>
          <a:bodyPr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85537" y="4102393"/>
            <a:ext cx="4145513" cy="240092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dirty="0"/>
              <a:pPr/>
              <a:t>5/20/2026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85537" y="238981"/>
            <a:ext cx="4155753" cy="24069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085537" y="2357704"/>
            <a:ext cx="414551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417546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38879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79333" y="599230"/>
            <a:ext cx="1211807" cy="349491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3504" y="599230"/>
            <a:ext cx="5871623" cy="34949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7079333" y="599230"/>
            <a:ext cx="0" cy="349491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46586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73962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14607"/>
            <a:ext cx="9144000" cy="3079456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8685" y="603390"/>
            <a:ext cx="7202456" cy="7869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85" y="1511799"/>
            <a:ext cx="7202456" cy="2587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5604" y="247778"/>
            <a:ext cx="26255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684" y="246981"/>
            <a:ext cx="445412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0046" y="599230"/>
            <a:ext cx="608264" cy="37768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4596310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275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5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3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0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Ames Housing Analysis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Home Sale Prices?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Ajirioghene Evovo  |  Ames Housing Dataset  |  2,930 Homes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factors drive home sale prices in Ames, Iowa — and how can buyers and sellers use this to make smarter decisions?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26517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</a:t>
            </a: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Ames Housing — 2,930 rows, 75 columns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Home buyers, sellers, and real estate agents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Variable:</a:t>
            </a: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Sale_Price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a copy of the original dataset before any changes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Stripped whitespace from column names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missing numeric values with the median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missing categorical values with 'Unknown'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for and removed duplicate rows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cleaned dataset to data/processed/cleaned_ames.csv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 — Living Area Drives Price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858768" y="1097280"/>
            <a:ext cx="4736592" cy="79766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626864" y="9144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626864" y="1475361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with Sale Price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ground living area (Gr_Liv_Area) has the strongest numeric relationship with sale price at 0.71.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homes consistently sell for more across all neighborhoods.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scatter plot shows a clear upward trend — with more spread at higher prices, meaning expensive homes vary more.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B5AD8CA-0A1F-136B-A475-4D4BC92E03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" y="1097279"/>
            <a:ext cx="3712464" cy="229443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 — Central Air Nearly Doubles Price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005840"/>
          <a:ext cx="50292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669280" y="1371600"/>
            <a:ext cx="3200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central air: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$186,452 avg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central air: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$101,890 avg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almost double — making central air one of the strongest single predictors in the dataset.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 — Neighborhood Matters</a:t>
            </a:r>
            <a:endParaRPr lang="en-US" sz="32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365320446"/>
              </p:ext>
            </p:extLst>
          </p:nvPr>
        </p:nvGraphicFramePr>
        <p:xfrm>
          <a:off x="365760" y="1005840"/>
          <a:ext cx="822960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931920" cy="18288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Sellers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adding central air before listing. The data shows it nearly doubles average sale price — the return on investment could be significant.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3931920" cy="18288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937760" y="11887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Buyers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larger homes in more affordable neighborhoods like North Ames or Edwards for better value than premium areas like Northridge.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Correlation ≠ causation. This dataset covers Ames, Iowa only and may not apply to other markets.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86000"/>
            <a:ext cx="9144000" cy="13716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tells a clear story.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Size, central air, and neighborhood are the three biggest drivers of home sale prices in Ames, Iowa.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Ajirioghene Evovo  |  Ames Housing Analysis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52</TotalTime>
  <Words>351</Words>
  <Application>Microsoft Office PowerPoint</Application>
  <PresentationFormat>On-screen Show (16:9)</PresentationFormat>
  <Paragraphs>47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Gill Sans MT</vt:lpstr>
      <vt:lpstr>Gallery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Ames Housing Analysis</dc:title>
  <dc:subject>PptxGenJS Presentation</dc:subject>
  <dc:creator>PptxGenJS</dc:creator>
  <cp:lastModifiedBy>Ajirioghene Evovo</cp:lastModifiedBy>
  <cp:revision>4</cp:revision>
  <dcterms:created xsi:type="dcterms:W3CDTF">2026-05-20T21:13:24Z</dcterms:created>
  <dcterms:modified xsi:type="dcterms:W3CDTF">2026-05-20T22:51:07Z</dcterms:modified>
</cp:coreProperties>
</file>